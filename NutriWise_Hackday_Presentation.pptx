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281160" y="292608"/>
            <a:ext cx="2304288" cy="621792"/>
          </a:xfrm>
          <a:prstGeom prst="roundRect">
            <a:avLst/>
          </a:prstGeom>
          <a:solidFill>
            <a:srgbClr val="0F2E22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850" b="1">
                <a:solidFill>
                  <a:srgbClr val="EA580C"/>
                </a:solidFill>
              </a:defRPr>
            </a:pPr>
            <a:r>
              <a:t>⚡ TEAM NAME</a:t>
            </a:r>
          </a:p>
          <a:p>
            <a:pPr algn="ctr">
              <a:defRPr sz="1600" b="1">
                <a:solidFill>
                  <a:srgbClr val="FFFFFF"/>
                </a:solidFill>
              </a:defRPr>
            </a:pPr>
            <a:r>
              <a:t>ATOMIX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274320"/>
            <a:ext cx="10981944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EA580C"/>
                </a:solidFill>
              </a:defRPr>
            </a:pPr>
            <a:r>
              <a:t>TEAM ATOMIX  |  1️⃣  PROBLEM STATEMENT</a:t>
            </a:r>
          </a:p>
          <a:p>
            <a:pPr>
              <a:defRPr sz="2400" b="1">
                <a:solidFill>
                  <a:srgbClr val="0F2E22"/>
                </a:solidFill>
              </a:defRPr>
            </a:pPr>
            <a:r>
              <a:t>The Crisis of Unverified &amp; Hallucinatory AI in Nutrition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Generic AI chatbots give ungrounded, dangerous advice with zero medical accountability.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6446520"/>
            <a:ext cx="10981944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NutriWise  |  Team ATOMIX  |  Hackday 1.0                                                                                  Slide 1 of 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" y="1463040"/>
            <a:ext cx="5349240" cy="3977639"/>
          </a:xfrm>
          <a:prstGeom prst="roundRect">
            <a:avLst/>
          </a:prstGeom>
          <a:solidFill>
            <a:srgbClr val="FEF2F2"/>
          </a:solidFill>
          <a:ln w="2540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691640"/>
            <a:ext cx="4800600" cy="3520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700" b="1">
                <a:solidFill>
                  <a:srgbClr val="DC2626"/>
                </a:solidFill>
              </a:defRPr>
            </a:pPr>
            <a:r>
              <a:t>❌  Generic AI Chatbots (ChatGPT / Gemini)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0F172A"/>
                </a:solidFill>
              </a:rPr>
              <a:t>•  Fake Recipes &amp; Claims: </a:t>
            </a:r>
            <a:r>
              <a:rPr b="0" sz="1150">
                <a:solidFill>
                  <a:srgbClr val="334155"/>
                </a:solidFill>
              </a:rPr>
              <a:t>Hallucinates nutritional values and invented health benefits.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0F172A"/>
                </a:solidFill>
              </a:rPr>
              <a:t>•  Zero Medical Citations: </a:t>
            </a:r>
            <a:r>
              <a:rPr b="0" sz="1150">
                <a:solidFill>
                  <a:srgbClr val="334155"/>
                </a:solidFill>
              </a:rPr>
              <a:t>No book sources, page numbers, or clinical references to verify.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0F172A"/>
                </a:solidFill>
              </a:rPr>
              <a:t>•  Climate &amp; Weather Blind: </a:t>
            </a:r>
            <a:r>
              <a:rPr b="0" sz="1150">
                <a:solidFill>
                  <a:srgbClr val="334155"/>
                </a:solidFill>
              </a:rPr>
              <a:t>Ignores local temperature, monsoons, and natural body heat.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0F172A"/>
                </a:solidFill>
              </a:rPr>
              <a:t>•  Chatbot UX Fatigue: </a:t>
            </a:r>
            <a:r>
              <a:rPr b="0" sz="1150">
                <a:solidFill>
                  <a:srgbClr val="334155"/>
                </a:solidFill>
              </a:rPr>
              <a:t>Requires 20 minutes of chatting instead of an instant whole-day plan.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4800600"/>
            <a:ext cx="4800600" cy="411480"/>
          </a:xfrm>
          <a:prstGeom prst="round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950" b="1">
                <a:solidFill>
                  <a:srgbClr val="DC2626"/>
                </a:solidFill>
              </a:defRPr>
            </a:pPr>
            <a:r>
              <a:t>⚠️  CRITICAL RISK: Unverified AI recipes can trigger acute medical emergencies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463040"/>
            <a:ext cx="5349240" cy="3977639"/>
          </a:xfrm>
          <a:prstGeom prst="roundRect">
            <a:avLst/>
          </a:prstGeom>
          <a:solidFill>
            <a:srgbClr val="FFFBEB"/>
          </a:solidFill>
          <a:ln w="2540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01384" y="1691640"/>
            <a:ext cx="4800600" cy="3520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700" b="1">
                <a:solidFill>
                  <a:srgbClr val="B45309"/>
                </a:solidFill>
              </a:defRPr>
            </a:pPr>
            <a:r>
              <a:t>⚠️  The Real-World Health Hazards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0F172A"/>
                </a:solidFill>
              </a:rPr>
              <a:t>•  Diabetic Health Hazards: </a:t>
            </a:r>
            <a:r>
              <a:rPr b="0" sz="1150">
                <a:solidFill>
                  <a:srgbClr val="334155"/>
                </a:solidFill>
              </a:rPr>
              <a:t>Recommending high-glycemic foods disguised as 'healthy' snacks.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0F172A"/>
                </a:solidFill>
              </a:rPr>
              <a:t>•  Allergy Contamination: </a:t>
            </a:r>
            <a:r>
              <a:rPr b="0" sz="1150">
                <a:solidFill>
                  <a:srgbClr val="334155"/>
                </a:solidFill>
              </a:rPr>
              <a:t>Deadly errors for Celiac (gluten) &amp; severe nut allergy sufferers.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0F172A"/>
                </a:solidFill>
              </a:rPr>
              <a:t>•  Contradictory Regimens: </a:t>
            </a:r>
            <a:r>
              <a:rPr b="0" sz="1150">
                <a:solidFill>
                  <a:srgbClr val="334155"/>
                </a:solidFill>
              </a:rPr>
              <a:t>Conflicting diet advice that undermines prescribed medicines.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0F172A"/>
                </a:solidFill>
              </a:rPr>
              <a:t>•  Zero Legal Recourse: </a:t>
            </a:r>
            <a:r>
              <a:rPr b="0" sz="1150">
                <a:solidFill>
                  <a:srgbClr val="334155"/>
                </a:solidFill>
              </a:rPr>
              <a:t>When patients fall ill, no one is accountable for chatbot outputs.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01384" y="4800600"/>
            <a:ext cx="4800600" cy="411480"/>
          </a:xfrm>
          <a:prstGeom prst="round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950" b="1">
                <a:solidFill>
                  <a:srgbClr val="92400E"/>
                </a:solidFill>
              </a:defRPr>
            </a:pPr>
            <a:r>
              <a:t>📉  DATA REALITY: 83% of commercial AI diet answers lack empirical sources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" y="5623560"/>
            <a:ext cx="10981944" cy="685800"/>
          </a:xfrm>
          <a:prstGeom prst="roundRect">
            <a:avLst/>
          </a:prstGeom>
          <a:solidFill>
            <a:srgbClr val="0F2E22"/>
          </a:solidFill>
          <a:ln w="19050">
            <a:solidFill>
              <a:srgbClr val="0F2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" y="5715000"/>
            <a:ext cx="10616184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💡  Core Reality: Clinical nutrition demands 100% mathematical certainty — not creative AI guessing.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274320"/>
            <a:ext cx="10981944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EA580C"/>
                </a:solidFill>
              </a:defRPr>
            </a:pPr>
            <a:r>
              <a:t>2️⃣  PROPOSED SOLUTION</a:t>
            </a:r>
          </a:p>
          <a:p>
            <a:pPr>
              <a:defRPr sz="2400" b="1">
                <a:solidFill>
                  <a:srgbClr val="0F2E22"/>
                </a:solidFill>
              </a:defRPr>
            </a:pPr>
            <a:r>
              <a:t>NutriWise: 100% Source-Grounded Dietary Intelligence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A hybrid clinical system combining verified literature RAG with deterministic safety shields.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6446520"/>
            <a:ext cx="10981944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NutriWise  |  Team ATOMIX  |  Hackday 1.0                                                                                  Slide 2 of 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3504" y="1463040"/>
            <a:ext cx="2331720" cy="118872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1B4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4944" y="1572768"/>
            <a:ext cx="21488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1300" b="1">
                <a:solidFill>
                  <a:srgbClr val="0F2E22"/>
                </a:solidFill>
              </a:defRPr>
            </a:pPr>
            <a:r>
              <a:t>1. Ingest Literature</a:t>
            </a:r>
          </a:p>
          <a:p>
            <a:pPr algn="ctr">
              <a:defRPr sz="1000">
                <a:solidFill>
                  <a:srgbClr val="334155"/>
                </a:solidFill>
              </a:defRPr>
            </a:pPr>
            <a:r>
              <a:t>Uploaded books, EPUBs &amp; clinical research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008376" y="1920240"/>
            <a:ext cx="320040" cy="292608"/>
          </a:xfrm>
          <a:prstGeom prst="rightArrow">
            <a:avLst/>
          </a:prstGeom>
          <a:solidFill>
            <a:srgbClr val="1B4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74720" y="1463040"/>
            <a:ext cx="2331720" cy="118872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1B4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66160" y="1572768"/>
            <a:ext cx="21488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1300" b="1">
                <a:solidFill>
                  <a:srgbClr val="0F2E22"/>
                </a:solidFill>
              </a:defRPr>
            </a:pPr>
            <a:r>
              <a:t>2. Safety Shield</a:t>
            </a:r>
          </a:p>
          <a:p>
            <a:pPr algn="ctr">
              <a:defRPr sz="1000">
                <a:solidFill>
                  <a:srgbClr val="334155"/>
                </a:solidFill>
              </a:defRPr>
            </a:pPr>
            <a:r>
              <a:t>Hard filters eliminate allergens &amp; medical AVOID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879592" y="1920240"/>
            <a:ext cx="320040" cy="292608"/>
          </a:xfrm>
          <a:prstGeom prst="rightArrow">
            <a:avLst/>
          </a:prstGeom>
          <a:solidFill>
            <a:srgbClr val="1B4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345936" y="1463040"/>
            <a:ext cx="2331720" cy="118872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1B4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37376" y="1572768"/>
            <a:ext cx="21488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1300" b="1">
                <a:solidFill>
                  <a:srgbClr val="0F2E22"/>
                </a:solidFill>
              </a:defRPr>
            </a:pPr>
            <a:r>
              <a:t>3. Grounded RAG</a:t>
            </a:r>
          </a:p>
          <a:p>
            <a:pPr algn="ctr">
              <a:defRPr sz="1000">
                <a:solidFill>
                  <a:srgbClr val="334155"/>
                </a:solidFill>
              </a:defRPr>
            </a:pPr>
            <a:r>
              <a:t>Gemini selects ONLY candidate foods in DB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750808" y="1920240"/>
            <a:ext cx="320040" cy="292608"/>
          </a:xfrm>
          <a:prstGeom prst="rightArrow">
            <a:avLst/>
          </a:prstGeom>
          <a:solidFill>
            <a:srgbClr val="1B4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217152" y="1463040"/>
            <a:ext cx="2331720" cy="118872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1B4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08592" y="1572768"/>
            <a:ext cx="21488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1300" b="1">
                <a:solidFill>
                  <a:srgbClr val="0F2E22"/>
                </a:solidFill>
              </a:defRPr>
            </a:pPr>
            <a:r>
              <a:t>4. Daily Meal Plan</a:t>
            </a:r>
          </a:p>
          <a:p>
            <a:pPr algn="ctr">
              <a:defRPr sz="1000">
                <a:solidFill>
                  <a:srgbClr val="334155"/>
                </a:solidFill>
              </a:defRPr>
            </a:pPr>
            <a:r>
              <a:t>Ready in &lt; 15ms with verified book page citations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3504" y="2834640"/>
            <a:ext cx="3456432" cy="3383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" y="3035808"/>
            <a:ext cx="2999232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EA580C"/>
                </a:solidFill>
              </a:defRPr>
            </a:pPr>
            <a:r>
              <a:t>ABSOLUTE GROUNDING</a:t>
            </a:r>
          </a:p>
          <a:p>
            <a:pPr>
              <a:spcAft>
                <a:spcPts val="1200"/>
              </a:spcAft>
              <a:defRPr sz="1500" b="1">
                <a:solidFill>
                  <a:srgbClr val="0F2E22"/>
                </a:solidFill>
              </a:defRPr>
            </a:pPr>
            <a:r>
              <a:t>🛡️  Zero-Hallucination RAG</a:t>
            </a:r>
          </a:p>
          <a:p>
            <a:pPr>
              <a:spcAft>
                <a:spcPts val="800"/>
              </a:spcAft>
              <a:defRPr sz="1150">
                <a:solidFill>
                  <a:srgbClr val="334155"/>
                </a:solidFill>
              </a:defRPr>
            </a:pPr>
            <a:r>
              <a:t>✓  AI is locked to candidate food records from ingested books.</a:t>
            </a:r>
          </a:p>
          <a:p>
            <a:pPr>
              <a:spcAft>
                <a:spcPts val="800"/>
              </a:spcAft>
              <a:defRPr sz="1150">
                <a:solidFill>
                  <a:srgbClr val="334155"/>
                </a:solidFill>
              </a:defRPr>
            </a:pPr>
            <a:r>
              <a:t>✓  Cannot invent dishes, recipes, or unverified claims.</a:t>
            </a:r>
          </a:p>
          <a:p>
            <a:pPr>
              <a:spcAft>
                <a:spcPts val="800"/>
              </a:spcAft>
              <a:defRPr sz="1150">
                <a:solidFill>
                  <a:srgbClr val="334155"/>
                </a:solidFill>
              </a:defRPr>
            </a:pPr>
            <a:r>
              <a:t>✓  Books and clinical research are treated as authoritative law.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2104" y="5623560"/>
            <a:ext cx="2999232" cy="384048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950" b="1">
                <a:solidFill>
                  <a:srgbClr val="1B4D3E"/>
                </a:solidFill>
              </a:defRPr>
            </a:pPr>
            <a:r>
              <a:t>🎯  100% Verified Book Grounding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61688" y="2834640"/>
            <a:ext cx="3456432" cy="3383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90288" y="3035808"/>
            <a:ext cx="2999232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EA580C"/>
                </a:solidFill>
              </a:defRPr>
            </a:pPr>
            <a:r>
              <a:t>COMPLETE TRANSPARENCY</a:t>
            </a:r>
          </a:p>
          <a:p>
            <a:pPr>
              <a:spcAft>
                <a:spcPts val="1200"/>
              </a:spcAft>
              <a:defRPr sz="1500" b="1">
                <a:solidFill>
                  <a:srgbClr val="0F2E22"/>
                </a:solidFill>
              </a:defRPr>
            </a:pPr>
            <a:r>
              <a:t>📖  Verified Book Citations</a:t>
            </a:r>
          </a:p>
          <a:p>
            <a:pPr>
              <a:spcAft>
                <a:spcPts val="800"/>
              </a:spcAft>
              <a:defRPr sz="1150">
                <a:solidFill>
                  <a:srgbClr val="334155"/>
                </a:solidFill>
              </a:defRPr>
            </a:pPr>
            <a:r>
              <a:t>✓  Every food card shows exact book title, chapter &amp; page number.</a:t>
            </a:r>
          </a:p>
          <a:p>
            <a:pPr>
              <a:spcAft>
                <a:spcPts val="800"/>
              </a:spcAft>
              <a:defRPr sz="1150">
                <a:solidFill>
                  <a:srgbClr val="334155"/>
                </a:solidFill>
              </a:defRPr>
            </a:pPr>
            <a:r>
              <a:t>✓  Interactive citation modal displays the author's medical quote.</a:t>
            </a:r>
          </a:p>
          <a:p>
            <a:pPr>
              <a:spcAft>
                <a:spcPts val="800"/>
              </a:spcAft>
              <a:defRPr sz="1150">
                <a:solidFill>
                  <a:srgbClr val="334155"/>
                </a:solidFill>
              </a:defRPr>
            </a:pPr>
            <a:r>
              <a:t>✓  Users and doctors can audit the exact clinical evidence.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90288" y="5623560"/>
            <a:ext cx="2999232" cy="384048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950" b="1">
                <a:solidFill>
                  <a:srgbClr val="1B4D3E"/>
                </a:solidFill>
              </a:defRPr>
            </a:pPr>
            <a:r>
              <a:t>🔍  Exact Source Quote on Every Card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19872" y="2834640"/>
            <a:ext cx="3456432" cy="3383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48472" y="3035808"/>
            <a:ext cx="2999232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EA580C"/>
                </a:solidFill>
              </a:defRPr>
            </a:pPr>
            <a:r>
              <a:t>THERMOREGULATED NUTRITION</a:t>
            </a:r>
          </a:p>
          <a:p>
            <a:pPr>
              <a:spcAft>
                <a:spcPts val="1200"/>
              </a:spcAft>
              <a:defRPr sz="1500" b="1">
                <a:solidFill>
                  <a:srgbClr val="0F2E22"/>
                </a:solidFill>
              </a:defRPr>
            </a:pPr>
            <a:r>
              <a:t>☀️  Weather &amp; Climate Adaptive</a:t>
            </a:r>
          </a:p>
          <a:p>
            <a:pPr>
              <a:spcAft>
                <a:spcPts val="800"/>
              </a:spcAft>
              <a:defRPr sz="1150">
                <a:solidFill>
                  <a:srgbClr val="334155"/>
                </a:solidFill>
              </a:defRPr>
            </a:pPr>
            <a:r>
              <a:t>✓  Live OpenWeather API integration maps real-time heat &amp; rain.</a:t>
            </a:r>
          </a:p>
          <a:p>
            <a:pPr>
              <a:spcAft>
                <a:spcPts val="800"/>
              </a:spcAft>
              <a:defRPr sz="1150">
                <a:solidFill>
                  <a:srgbClr val="334155"/>
                </a:solidFill>
              </a:defRPr>
            </a:pPr>
            <a:r>
              <a:t>✓  Promotes cooling foods during heatwaves, warming foods in cold.</a:t>
            </a:r>
          </a:p>
          <a:p>
            <a:pPr>
              <a:spcAft>
                <a:spcPts val="800"/>
              </a:spcAft>
              <a:defRPr sz="1150">
                <a:solidFill>
                  <a:srgbClr val="334155"/>
                </a:solidFill>
              </a:defRPr>
            </a:pPr>
            <a:r>
              <a:t>✓  Harmonizes modern nutrition with traditional seasonal wisdom.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348472" y="5623560"/>
            <a:ext cx="2999232" cy="384048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950" b="1">
                <a:solidFill>
                  <a:srgbClr val="1B4D3E"/>
                </a:solidFill>
              </a:defRPr>
            </a:pPr>
            <a:r>
              <a:t>🌡️  Real-Time Ambient Weather Sync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274320"/>
            <a:ext cx="10981944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EA580C"/>
                </a:solidFill>
              </a:defRPr>
            </a:pPr>
            <a:r>
              <a:t>3️⃣  TARGET USERS</a:t>
            </a:r>
          </a:p>
          <a:p>
            <a:pPr>
              <a:defRPr sz="2400" b="1">
                <a:solidFill>
                  <a:srgbClr val="0F2E22"/>
                </a:solidFill>
              </a:defRPr>
            </a:pPr>
            <a:r>
              <a:t>Built for Real Clinical &amp; Lifestyle Nutrition Needs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Serving high-stakes medical conditions, severe allergy sufferers, and health-conscious families.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6446520"/>
            <a:ext cx="10981944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NutriWise  |  Team ATOMIX  |  Hackday 1.0                                                                                  Slide 3 of 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3504" y="1463040"/>
            <a:ext cx="2578608" cy="4754880"/>
          </a:xfrm>
          <a:prstGeom prst="roundRect">
            <a:avLst/>
          </a:prstGeom>
          <a:solidFill>
            <a:srgbClr val="FEF2F2"/>
          </a:solidFill>
          <a:ln w="2286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1645920"/>
            <a:ext cx="2212848" cy="3977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800"/>
            </a:pPr>
            <a:r>
              <a:t>🩸</a:t>
            </a:r>
          </a:p>
          <a:p>
            <a:pPr>
              <a:spcAft>
                <a:spcPts val="200"/>
              </a:spcAft>
              <a:defRPr sz="950" b="1">
                <a:solidFill>
                  <a:srgbClr val="EA580C"/>
                </a:solidFill>
              </a:defRPr>
            </a:pPr>
            <a:r>
              <a:t>CHRONIC ILLNESS</a:t>
            </a:r>
          </a:p>
          <a:p>
            <a:pPr>
              <a:spcAft>
                <a:spcPts val="1200"/>
              </a:spcAft>
              <a:defRPr sz="1400" b="1">
                <a:solidFill>
                  <a:srgbClr val="0F2E22"/>
                </a:solidFill>
              </a:defRPr>
            </a:pPr>
            <a:r>
              <a:t>Diabetics &amp; Cardiac</a:t>
            </a:r>
          </a:p>
          <a:p>
            <a:pPr>
              <a:spcAft>
                <a:spcPts val="800"/>
              </a:spcAft>
              <a:defRPr sz="1100">
                <a:solidFill>
                  <a:srgbClr val="334155"/>
                </a:solidFill>
              </a:defRPr>
            </a:pPr>
            <a:r>
              <a:t>•  Strict low-glycemic foods to stabilize daily blood sugar spikes.</a:t>
            </a:r>
          </a:p>
          <a:p>
            <a:pPr>
              <a:spcAft>
                <a:spcPts val="800"/>
              </a:spcAft>
              <a:defRPr sz="1100">
                <a:solidFill>
                  <a:srgbClr val="334155"/>
                </a:solidFill>
              </a:defRPr>
            </a:pPr>
            <a:r>
              <a:t>•  Low-sodium, heart-healthy lipids &amp; high soluble fiber.</a:t>
            </a:r>
          </a:p>
          <a:p>
            <a:pPr>
              <a:spcAft>
                <a:spcPts val="800"/>
              </a:spcAft>
              <a:defRPr sz="1100">
                <a:solidFill>
                  <a:srgbClr val="334155"/>
                </a:solidFill>
              </a:defRPr>
            </a:pPr>
            <a:r>
              <a:t>•  PCOS &amp; Thyroid hormonal balance through targeted diet.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8096" y="5623560"/>
            <a:ext cx="2249424" cy="40233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950" b="1">
                <a:solidFill>
                  <a:srgbClr val="0F2E22"/>
                </a:solidFill>
              </a:defRPr>
            </a:pPr>
            <a:r>
              <a:t>🎯  Blood Sugar &amp; BP Precision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01568" y="1463040"/>
            <a:ext cx="2578608" cy="4754880"/>
          </a:xfrm>
          <a:prstGeom prst="roundRect">
            <a:avLst/>
          </a:prstGeom>
          <a:solidFill>
            <a:srgbClr val="FAF5FF"/>
          </a:solidFill>
          <a:ln w="22860">
            <a:solidFill>
              <a:srgbClr val="E9D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84448" y="1645920"/>
            <a:ext cx="2212848" cy="3977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800"/>
            </a:pPr>
            <a:r>
              <a:t>🚫</a:t>
            </a:r>
          </a:p>
          <a:p>
            <a:pPr>
              <a:spcAft>
                <a:spcPts val="200"/>
              </a:spcAft>
              <a:defRPr sz="950" b="1">
                <a:solidFill>
                  <a:srgbClr val="EA580C"/>
                </a:solidFill>
              </a:defRPr>
            </a:pPr>
            <a:r>
              <a:t>ZERO-TOLERANCE</a:t>
            </a:r>
          </a:p>
          <a:p>
            <a:pPr>
              <a:spcAft>
                <a:spcPts val="1200"/>
              </a:spcAft>
              <a:defRPr sz="1400" b="1">
                <a:solidFill>
                  <a:srgbClr val="0F2E22"/>
                </a:solidFill>
              </a:defRPr>
            </a:pPr>
            <a:r>
              <a:t>Severe Allergies</a:t>
            </a:r>
          </a:p>
          <a:p>
            <a:pPr>
              <a:spcAft>
                <a:spcPts val="800"/>
              </a:spcAft>
              <a:defRPr sz="1100">
                <a:solidFill>
                  <a:srgbClr val="334155"/>
                </a:solidFill>
              </a:defRPr>
            </a:pPr>
            <a:r>
              <a:t>•  Celiac disease (gluten), lactose, and severe nut allergies.</a:t>
            </a:r>
          </a:p>
          <a:p>
            <a:pPr>
              <a:spcAft>
                <a:spcPts val="800"/>
              </a:spcAft>
              <a:defRPr sz="1100">
                <a:solidFill>
                  <a:srgbClr val="334155"/>
                </a:solidFill>
              </a:defRPr>
            </a:pPr>
            <a:r>
              <a:t>•  100% binary safety filtering with zero cross-contamination.</a:t>
            </a:r>
          </a:p>
          <a:p>
            <a:pPr>
              <a:spcAft>
                <a:spcPts val="800"/>
              </a:spcAft>
              <a:defRPr sz="1100">
                <a:solidFill>
                  <a:srgbClr val="334155"/>
                </a:solidFill>
              </a:defRPr>
            </a:pPr>
            <a:r>
              <a:t>•  Pantry alternative matcher when dishes cannot be cooked.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66160" y="5623560"/>
            <a:ext cx="2249424" cy="40233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950" b="1">
                <a:solidFill>
                  <a:srgbClr val="0F2E22"/>
                </a:solidFill>
              </a:defRPr>
            </a:pPr>
            <a:r>
              <a:t>🛡️  0% Cross-Contamination Risk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1463040"/>
            <a:ext cx="2578608" cy="4754880"/>
          </a:xfrm>
          <a:prstGeom prst="roundRect">
            <a:avLst/>
          </a:prstGeom>
          <a:solidFill>
            <a:srgbClr val="ECFDF5"/>
          </a:solidFill>
          <a:ln w="2286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82512" y="1645920"/>
            <a:ext cx="2212848" cy="3977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800"/>
            </a:pPr>
            <a:r>
              <a:t>🌿</a:t>
            </a:r>
          </a:p>
          <a:p>
            <a:pPr>
              <a:spcAft>
                <a:spcPts val="200"/>
              </a:spcAft>
              <a:defRPr sz="950" b="1">
                <a:solidFill>
                  <a:srgbClr val="EA580C"/>
                </a:solidFill>
              </a:defRPr>
            </a:pPr>
            <a:r>
              <a:t>NATURAL WELLNESS</a:t>
            </a:r>
          </a:p>
          <a:p>
            <a:pPr>
              <a:spcAft>
                <a:spcPts val="1200"/>
              </a:spcAft>
              <a:defRPr sz="1400" b="1">
                <a:solidFill>
                  <a:srgbClr val="0F2E22"/>
                </a:solidFill>
              </a:defRPr>
            </a:pPr>
            <a:r>
              <a:t>Seasonal &amp; Holistic</a:t>
            </a:r>
          </a:p>
          <a:p>
            <a:pPr>
              <a:spcAft>
                <a:spcPts val="800"/>
              </a:spcAft>
              <a:defRPr sz="1100">
                <a:solidFill>
                  <a:srgbClr val="334155"/>
                </a:solidFill>
              </a:defRPr>
            </a:pPr>
            <a:r>
              <a:t>•  Eaters seeking natural body thermoregulation.</a:t>
            </a:r>
          </a:p>
          <a:p>
            <a:pPr>
              <a:spcAft>
                <a:spcPts val="800"/>
              </a:spcAft>
              <a:defRPr sz="1100">
                <a:solidFill>
                  <a:srgbClr val="334155"/>
                </a:solidFill>
              </a:defRPr>
            </a:pPr>
            <a:r>
              <a:t>•  Aligns diet with live local heatwaves, monsoons, and chills.</a:t>
            </a:r>
          </a:p>
          <a:p>
            <a:pPr>
              <a:spcAft>
                <a:spcPts val="800"/>
              </a:spcAft>
              <a:defRPr sz="1100">
                <a:solidFill>
                  <a:srgbClr val="334155"/>
                </a:solidFill>
              </a:defRPr>
            </a:pPr>
            <a:r>
              <a:t>•  Rooted in verified Ayurvedic &amp; traditional food science.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64224" y="5623560"/>
            <a:ext cx="2249424" cy="40233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950" b="1">
                <a:solidFill>
                  <a:srgbClr val="0F2E22"/>
                </a:solidFill>
              </a:defRPr>
            </a:pPr>
            <a:r>
              <a:t>🌡️  Thermoregulated Nutrition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97696" y="1463040"/>
            <a:ext cx="2578608" cy="4754880"/>
          </a:xfrm>
          <a:prstGeom prst="roundRect">
            <a:avLst/>
          </a:prstGeom>
          <a:solidFill>
            <a:srgbClr val="EFF6FF"/>
          </a:solidFill>
          <a:ln w="228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80576" y="1645920"/>
            <a:ext cx="2212848" cy="3977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800"/>
            </a:pPr>
            <a:r>
              <a:t>⏱️</a:t>
            </a:r>
          </a:p>
          <a:p>
            <a:pPr>
              <a:spcAft>
                <a:spcPts val="200"/>
              </a:spcAft>
              <a:defRPr sz="950" b="1">
                <a:solidFill>
                  <a:srgbClr val="EA580C"/>
                </a:solidFill>
              </a:defRPr>
            </a:pPr>
            <a:r>
              <a:t>DAILY EFFICIENCY</a:t>
            </a:r>
          </a:p>
          <a:p>
            <a:pPr>
              <a:spcAft>
                <a:spcPts val="1200"/>
              </a:spcAft>
              <a:defRPr sz="1400" b="1">
                <a:solidFill>
                  <a:srgbClr val="0F2E22"/>
                </a:solidFill>
              </a:defRPr>
            </a:pPr>
            <a:r>
              <a:t>Busy Families</a:t>
            </a:r>
          </a:p>
          <a:p>
            <a:pPr>
              <a:spcAft>
                <a:spcPts val="800"/>
              </a:spcAft>
              <a:defRPr sz="1100">
                <a:solidFill>
                  <a:srgbClr val="334155"/>
                </a:solidFill>
              </a:defRPr>
            </a:pPr>
            <a:r>
              <a:t>•  Instant whole-day meal roadmap (Breakfast to Dinner) in &lt; 15ms.</a:t>
            </a:r>
          </a:p>
          <a:p>
            <a:pPr>
              <a:spcAft>
                <a:spcPts val="800"/>
              </a:spcAft>
              <a:defRPr sz="1100">
                <a:solidFill>
                  <a:srgbClr val="334155"/>
                </a:solidFill>
              </a:defRPr>
            </a:pPr>
            <a:r>
              <a:t>•  Zero tedious calorie counting or spreadsheet tracking.</a:t>
            </a:r>
          </a:p>
          <a:p>
            <a:pPr>
              <a:spcAft>
                <a:spcPts val="800"/>
              </a:spcAft>
              <a:defRPr sz="1100">
                <a:solidFill>
                  <a:srgbClr val="334155"/>
                </a:solidFill>
              </a:defRPr>
            </a:pPr>
            <a:r>
              <a:t>•  Pantry-friendly ingredients with simple home cooking.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62288" y="5623560"/>
            <a:ext cx="2249424" cy="40233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950" b="1">
                <a:solidFill>
                  <a:srgbClr val="0F2E22"/>
                </a:solidFill>
              </a:defRPr>
            </a:pPr>
            <a:r>
              <a:t>⚡  Complete Day Plan in &lt; 15ms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274320"/>
            <a:ext cx="10981944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EA580C"/>
                </a:solidFill>
              </a:defRPr>
            </a:pPr>
            <a:r>
              <a:t>4️⃣  TECHNICAL APPROACH</a:t>
            </a:r>
          </a:p>
          <a:p>
            <a:pPr>
              <a:defRPr sz="2400" b="1">
                <a:solidFill>
                  <a:srgbClr val="0F2E22"/>
                </a:solidFill>
              </a:defRPr>
            </a:pPr>
            <a:r>
              <a:t>Hybrid Clinical Engine: Fast, Safe, and Grounded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Engineered for sub-15ms cached serving, strict RAG grounding, and autonomous pattern learning.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6446520"/>
            <a:ext cx="10981944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NutriWise  |  Team ATOMIX  |  Hackday 1.0                                                                                  Slide 4 of 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3504" y="1463040"/>
            <a:ext cx="2578608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1645920"/>
            <a:ext cx="2212848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E22"/>
                </a:solidFill>
              </a:defRPr>
            </a:pPr>
            <a:r>
              <a:t>📥  1. Ingestion Pipeline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t>PyMuPDF, ebooklib &amp; BS4 strip noise, extract canonical foods &amp; composite ingredients.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01568" y="1463040"/>
            <a:ext cx="2578608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84448" y="1645920"/>
            <a:ext cx="2212848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E22"/>
                </a:solidFill>
              </a:defRPr>
            </a:pPr>
            <a:r>
              <a:t>🛡️  2. Clinical Hard Filters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t>6-stage safety shield eliminates allergens, medical AVOID conditions &amp; dislikes.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463040"/>
            <a:ext cx="2578608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82512" y="1645920"/>
            <a:ext cx="2212848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E22"/>
                </a:solidFill>
              </a:defRPr>
            </a:pPr>
            <a:r>
              <a:t>🧠  3. Grounded Gemini AI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t>Curates complementary meals with multi-model fallback (3.6 → 3.5 → latest → 2.5).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97696" y="1463040"/>
            <a:ext cx="2578608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80576" y="1645920"/>
            <a:ext cx="2212848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E22"/>
                </a:solidFill>
              </a:defRPr>
            </a:pPr>
            <a:r>
              <a:t>⚡  4. Auto-Learner &amp; Cache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t>Distills rationale into DB benefits; caches daily plan for instant local serving.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3504" y="3886200"/>
            <a:ext cx="3456432" cy="233172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1B4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" y="4050792"/>
            <a:ext cx="3090672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0F2E22"/>
                </a:solidFill>
              </a:defRPr>
            </a:pPr>
            <a:r>
              <a:t>&lt; 15 ms</a:t>
            </a:r>
          </a:p>
          <a:p>
            <a:pPr algn="ctr">
              <a:spcAft>
                <a:spcPts val="400"/>
              </a:spcAft>
              <a:defRPr sz="1400" b="1">
                <a:solidFill>
                  <a:srgbClr val="EA580C"/>
                </a:solidFill>
              </a:defRPr>
            </a:pPr>
            <a:r>
              <a:t>Lightning Serving Speed</a:t>
            </a:r>
          </a:p>
          <a:p>
            <a:pPr algn="ctr">
              <a:defRPr sz="1050">
                <a:solidFill>
                  <a:srgbClr val="334155"/>
                </a:solidFill>
              </a:defRPr>
            </a:pPr>
            <a:r>
              <a:t>Cached in local SQLite database; zero lag on dashboard reloads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6384" y="5669280"/>
            <a:ext cx="3090672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950" b="1">
                <a:solidFill>
                  <a:srgbClr val="1B4D3E"/>
                </a:solidFill>
              </a:defRPr>
            </a:pPr>
            <a:r>
              <a:t>⚡  Instant UI Response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61688" y="3886200"/>
            <a:ext cx="3456432" cy="233172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1B4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44568" y="4050792"/>
            <a:ext cx="3090672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0F2E22"/>
                </a:solidFill>
              </a:defRPr>
            </a:pPr>
            <a:r>
              <a:t>0 API Calls</a:t>
            </a:r>
          </a:p>
          <a:p>
            <a:pPr algn="ctr">
              <a:spcAft>
                <a:spcPts val="400"/>
              </a:spcAft>
              <a:defRPr sz="1400" b="1">
                <a:solidFill>
                  <a:srgbClr val="EA580C"/>
                </a:solidFill>
              </a:defRPr>
            </a:pPr>
            <a:r>
              <a:t>Zero Rate-Limit Risk</a:t>
            </a:r>
          </a:p>
          <a:p>
            <a:pPr algn="ctr">
              <a:defRPr sz="1050">
                <a:solidFill>
                  <a:srgbClr val="334155"/>
                </a:solidFill>
              </a:defRPr>
            </a:pPr>
            <a:r>
              <a:t>Page reloads make zero external API calls, ensuring high availability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44568" y="5669280"/>
            <a:ext cx="3090672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950" b="1">
                <a:solidFill>
                  <a:srgbClr val="1B4D3E"/>
                </a:solidFill>
              </a:defRPr>
            </a:pPr>
            <a:r>
              <a:t>🛡️  Zero-Dependency Reloads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19872" y="3886200"/>
            <a:ext cx="3456432" cy="233172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1B4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02752" y="4050792"/>
            <a:ext cx="3090672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0F2E22"/>
                </a:solidFill>
              </a:defRPr>
            </a:pPr>
            <a:r>
              <a:t>100% Grounded</a:t>
            </a:r>
          </a:p>
          <a:p>
            <a:pPr algn="ctr">
              <a:spcAft>
                <a:spcPts val="400"/>
              </a:spcAft>
              <a:defRPr sz="1400" b="1">
                <a:solidFill>
                  <a:srgbClr val="EA580C"/>
                </a:solidFill>
              </a:defRPr>
            </a:pPr>
            <a:r>
              <a:t>Zero Hallucinations</a:t>
            </a:r>
          </a:p>
          <a:p>
            <a:pPr algn="ctr">
              <a:defRPr sz="1050">
                <a:solidFill>
                  <a:srgbClr val="334155"/>
                </a:solidFill>
              </a:defRPr>
            </a:pPr>
            <a:r>
              <a:t>Every recommendation verified against published literature with citations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302752" y="5669280"/>
            <a:ext cx="3090672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950" b="1">
                <a:solidFill>
                  <a:srgbClr val="1B4D3E"/>
                </a:solidFill>
              </a:defRPr>
            </a:pPr>
            <a:r>
              <a:t>📚  Peer-Reviewed Citations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274320"/>
            <a:ext cx="10981944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EA580C"/>
                </a:solidFill>
              </a:defRPr>
            </a:pPr>
            <a:r>
              <a:t>5️⃣  MARKET &amp; BUSINESS POTENTIAL</a:t>
            </a:r>
          </a:p>
          <a:p>
            <a:pPr>
              <a:defRPr sz="2400" b="1">
                <a:solidFill>
                  <a:srgbClr val="0F2E22"/>
                </a:solidFill>
              </a:defRPr>
            </a:pPr>
            <a:r>
              <a:t>Monetizing the ₹94,000+ Cr ($11.3B) Nutrition Market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Multi-stream revenue model in Indian Rupees (INR): consumer freemium, clinical B2B SaaS, and quick-commerce.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6446520"/>
            <a:ext cx="10981944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NutriWise  |  Team ATOMIX  |  Hackday 1.0                                                                                  Slide 5 of 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3504" y="1417320"/>
            <a:ext cx="10981944" cy="1097280"/>
          </a:xfrm>
          <a:prstGeom prst="roundRect">
            <a:avLst/>
          </a:prstGeom>
          <a:solidFill>
            <a:srgbClr val="0F2E22"/>
          </a:solidFill>
          <a:ln w="19050">
            <a:solidFill>
              <a:srgbClr val="0F2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536192"/>
            <a:ext cx="10543032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📈  ₹94,000+ Crore ($11.3B) Global Market  ·  16.4% CAGR (2024–2030)</a:t>
            </a:r>
          </a:p>
          <a:p>
            <a:pPr algn="ctr">
              <a:spcBef>
                <a:spcPts val="400"/>
              </a:spcBef>
              <a:defRPr sz="1200">
                <a:solidFill>
                  <a:srgbClr val="D1FAE5"/>
                </a:solidFill>
              </a:defRPr>
            </a:pPr>
            <a:r>
              <a:t>🇮🇳  India's Preventive Healthcare &amp; Dietary Wellness Market is expanding at 22% CAGR, driven by the urban metabolic health crisis.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" y="2697480"/>
            <a:ext cx="3456432" cy="3566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" y="2880360"/>
            <a:ext cx="2999232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EA580C"/>
                </a:solidFill>
              </a:defRPr>
            </a:pPr>
            <a:r>
              <a:t>👤  B2C CONSUMER</a:t>
            </a:r>
          </a:p>
          <a:p>
            <a:pPr>
              <a:defRPr sz="1500" b="1">
                <a:solidFill>
                  <a:srgbClr val="0F2E22"/>
                </a:solidFill>
              </a:defRPr>
            </a:pPr>
            <a:r>
              <a:t>Freemium Subscription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B4D3E"/>
                </a:solidFill>
              </a:rPr>
              <a:t>₹399 / Month</a:t>
            </a:r>
            <a:r>
              <a:rPr sz="1000">
                <a:solidFill>
                  <a:srgbClr val="64748B"/>
                </a:solidFill>
              </a:rPr>
              <a:t>  (₹2,999 / Year)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</a:defRPr>
            </a:pPr>
            <a:r>
              <a:t>•  Free: Daily verified meal plans &amp; ingredient alternatives.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</a:defRPr>
            </a:pPr>
            <a:r>
              <a:t>•  Pro: Access to specialized clinical book packs (Renal, PCOS, Heart).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</a:defRPr>
            </a:pPr>
            <a:r>
              <a:t>•  Family health profiles with shared grocery synchronization.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2104" y="5715000"/>
            <a:ext cx="2999232" cy="384048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950" b="1">
                <a:solidFill>
                  <a:srgbClr val="0F2E22"/>
                </a:solidFill>
              </a:defRPr>
            </a:pPr>
            <a:r>
              <a:t>🎯  Target: 50,000 Users = ₹24 Cr ARR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61688" y="2697480"/>
            <a:ext cx="3456432" cy="3566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0288" y="2880360"/>
            <a:ext cx="2999232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EA580C"/>
                </a:solidFill>
              </a:defRPr>
            </a:pPr>
            <a:r>
              <a:t>🏥  B2B HEALTHCARE</a:t>
            </a:r>
          </a:p>
          <a:p>
            <a:pPr>
              <a:defRPr sz="1500" b="1">
                <a:solidFill>
                  <a:srgbClr val="0F2E22"/>
                </a:solidFill>
              </a:defRPr>
            </a:pPr>
            <a:r>
              <a:t>Clinical Dietitian SaaS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B4D3E"/>
                </a:solidFill>
              </a:rPr>
              <a:t>₹14,999 / Month</a:t>
            </a:r>
            <a:r>
              <a:rPr sz="1000">
                <a:solidFill>
                  <a:srgbClr val="64748B"/>
                </a:solidFill>
              </a:rPr>
              <a:t>  (Per Hospital / Clinic)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</a:defRPr>
            </a:pPr>
            <a:r>
              <a:t>•  Licensed software for hospitals, outpatient dietitians &amp; metabolic clinics.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</a:defRPr>
            </a:pPr>
            <a:r>
              <a:t>•  Enables doctors to upload proprietary clinical literature.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</a:defRPr>
            </a:pPr>
            <a:r>
              <a:t>•  Generates verified, personalized patient diet plans in 5 seconds.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90288" y="5715000"/>
            <a:ext cx="2999232" cy="384048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950" b="1">
                <a:solidFill>
                  <a:srgbClr val="0F2E22"/>
                </a:solidFill>
              </a:defRPr>
            </a:pPr>
            <a:r>
              <a:t>🎯  Target: 500 Clinics = ₹9 Cr ARR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9872" y="2697480"/>
            <a:ext cx="3456432" cy="3566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48472" y="2880360"/>
            <a:ext cx="2999232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EA580C"/>
                </a:solidFill>
              </a:defRPr>
            </a:pPr>
            <a:r>
              <a:t>🛒  QUICK-COMMERCE</a:t>
            </a:r>
          </a:p>
          <a:p>
            <a:pPr>
              <a:defRPr sz="1500" b="1">
                <a:solidFill>
                  <a:srgbClr val="0F2E22"/>
                </a:solidFill>
              </a:defRPr>
            </a:pPr>
            <a:r>
              <a:t>1-Click Grocery Carts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B4D3E"/>
                </a:solidFill>
              </a:rPr>
              <a:t>3% – 7% GMV</a:t>
            </a:r>
            <a:r>
              <a:rPr sz="1000">
                <a:solidFill>
                  <a:srgbClr val="64748B"/>
                </a:solidFill>
              </a:rPr>
              <a:t>  (Affiliate Commission)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</a:defRPr>
            </a:pPr>
            <a:r>
              <a:t>•  API partnerships with Blinkit, Zepto, Swiggy Instamart &amp; BigBasket.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</a:defRPr>
            </a:pPr>
            <a:r>
              <a:t>•  1-click 'Cart My Plan': Automatically populates required fresh ingredients.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</a:defRPr>
            </a:pPr>
            <a:r>
              <a:t>•  High order conversion on high-intent daily cooking recipes.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48472" y="5715000"/>
            <a:ext cx="2999232" cy="384048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950" b="1">
                <a:solidFill>
                  <a:srgbClr val="0F2E22"/>
                </a:solidFill>
              </a:defRPr>
            </a:pPr>
            <a:r>
              <a:t>🎯  Target: ₹50 Lakhs Monthly GMV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274320"/>
            <a:ext cx="10981944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EA580C"/>
                </a:solidFill>
              </a:defRPr>
            </a:pPr>
            <a:r>
              <a:t>6️⃣  SCALABILITY &amp; FUTURE</a:t>
            </a:r>
          </a:p>
          <a:p>
            <a:pPr>
              <a:defRPr sz="2400" b="1">
                <a:solidFill>
                  <a:srgbClr val="0F2E22"/>
                </a:solidFill>
              </a:defRPr>
            </a:pPr>
            <a:r>
              <a:t>Engineering for Millions: Speed, Scale, and Localization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Transitioning from hackathon prototype to robust enterprise-grade healthcare infrastructure.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6446520"/>
            <a:ext cx="10981944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NutriWise  |  Team ATOMIX  |  Hackday 1.0                                                                                  Slide 6 of 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3504" y="1463040"/>
            <a:ext cx="2578608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1645920"/>
            <a:ext cx="2212848" cy="3977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800"/>
            </a:pPr>
            <a:r>
              <a:t>🗄️</a:t>
            </a:r>
          </a:p>
          <a:p>
            <a:pPr>
              <a:spcAft>
                <a:spcPts val="200"/>
              </a:spcAft>
              <a:defRPr sz="950" b="1">
                <a:solidFill>
                  <a:srgbClr val="EA580C"/>
                </a:solidFill>
              </a:defRPr>
            </a:pPr>
            <a:r>
              <a:t>DATA ARCHITECTURE</a:t>
            </a:r>
          </a:p>
          <a:p>
            <a:pPr>
              <a:spcAft>
                <a:spcPts val="1200"/>
              </a:spcAft>
              <a:defRPr sz="1400" b="1">
                <a:solidFill>
                  <a:srgbClr val="0F2E22"/>
                </a:solidFill>
              </a:defRPr>
            </a:pPr>
            <a:r>
              <a:t>PostgreSQL + pgvector</a:t>
            </a:r>
          </a:p>
          <a:p>
            <a:pPr>
              <a:spcAft>
                <a:spcPts val="800"/>
              </a:spcAft>
              <a:defRPr sz="1100">
                <a:solidFill>
                  <a:srgbClr val="334155"/>
                </a:solidFill>
              </a:defRPr>
            </a:pPr>
            <a:r>
              <a:t>•  Seamless upgrade to PostgreSQL with pgvector embeddings.</a:t>
            </a:r>
          </a:p>
          <a:p>
            <a:pPr>
              <a:spcAft>
                <a:spcPts val="800"/>
              </a:spcAft>
              <a:defRPr sz="1100">
                <a:solidFill>
                  <a:srgbClr val="334155"/>
                </a:solidFill>
              </a:defRPr>
            </a:pPr>
            <a:r>
              <a:t>•  Sub-50ms semantic RAG search across millions of medical pages.</a:t>
            </a:r>
          </a:p>
          <a:p>
            <a:pPr>
              <a:spcAft>
                <a:spcPts val="800"/>
              </a:spcAft>
              <a:defRPr sz="1100">
                <a:solidFill>
                  <a:srgbClr val="334155"/>
                </a:solidFill>
              </a:defRPr>
            </a:pPr>
            <a:r>
              <a:t>•  Partitioned indexing by clinical condition &amp; culinary region.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8096" y="5623560"/>
            <a:ext cx="2249424" cy="402336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950" b="1">
                <a:solidFill>
                  <a:srgbClr val="1B4D3E"/>
                </a:solidFill>
              </a:defRPr>
            </a:pPr>
            <a:r>
              <a:t>🚀  Q1 2027: Enterprise RAG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01568" y="1463040"/>
            <a:ext cx="2578608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84448" y="1645920"/>
            <a:ext cx="2212848" cy="3977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800"/>
            </a:pPr>
            <a:r>
              <a:t>⚡</a:t>
            </a:r>
          </a:p>
          <a:p>
            <a:pPr>
              <a:spcAft>
                <a:spcPts val="200"/>
              </a:spcAft>
              <a:defRPr sz="950" b="1">
                <a:solidFill>
                  <a:srgbClr val="EA580C"/>
                </a:solidFill>
              </a:defRPr>
            </a:pPr>
            <a:r>
              <a:t>HIGH-THROUGHPUT</a:t>
            </a:r>
          </a:p>
          <a:p>
            <a:pPr>
              <a:spcAft>
                <a:spcPts val="1200"/>
              </a:spcAft>
              <a:defRPr sz="1400" b="1">
                <a:solidFill>
                  <a:srgbClr val="0F2E22"/>
                </a:solidFill>
              </a:defRPr>
            </a:pPr>
            <a:r>
              <a:t>Distributed Worker Queues</a:t>
            </a:r>
          </a:p>
          <a:p>
            <a:pPr>
              <a:spcAft>
                <a:spcPts val="800"/>
              </a:spcAft>
              <a:defRPr sz="1100">
                <a:solidFill>
                  <a:srgbClr val="334155"/>
                </a:solidFill>
              </a:defRPr>
            </a:pPr>
            <a:r>
              <a:t>•  Celery + Redis worker cluster for async OCR and PDF ingestion.</a:t>
            </a:r>
          </a:p>
          <a:p>
            <a:pPr>
              <a:spcAft>
                <a:spcPts val="800"/>
              </a:spcAft>
              <a:defRPr sz="1100">
                <a:solidFill>
                  <a:srgbClr val="334155"/>
                </a:solidFill>
              </a:defRPr>
            </a:pPr>
            <a:r>
              <a:t>•  Decouples gigabyte-scale document processing from web traffic.</a:t>
            </a:r>
          </a:p>
          <a:p>
            <a:pPr>
              <a:spcAft>
                <a:spcPts val="800"/>
              </a:spcAft>
              <a:defRPr sz="1100">
                <a:solidFill>
                  <a:srgbClr val="334155"/>
                </a:solidFill>
              </a:defRPr>
            </a:pPr>
            <a:r>
              <a:t>•  Auto-scaling stateless Docker containers on cloud clusters.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66160" y="5623560"/>
            <a:ext cx="2249424" cy="402336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950" b="1">
                <a:solidFill>
                  <a:srgbClr val="1B4D3E"/>
                </a:solidFill>
              </a:defRPr>
            </a:pPr>
            <a:r>
              <a:t>🚀  Q2 2027: Async Processing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1463040"/>
            <a:ext cx="2578608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82512" y="1645920"/>
            <a:ext cx="2212848" cy="3977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800"/>
            </a:pPr>
            <a:r>
              <a:t>🇮🇳</a:t>
            </a:r>
          </a:p>
          <a:p>
            <a:pPr>
              <a:spcAft>
                <a:spcPts val="200"/>
              </a:spcAft>
              <a:defRPr sz="950" b="1">
                <a:solidFill>
                  <a:srgbClr val="EA580C"/>
                </a:solidFill>
              </a:defRPr>
            </a:pPr>
            <a:r>
              <a:t>LOCAL ACCESS</a:t>
            </a:r>
          </a:p>
          <a:p>
            <a:pPr>
              <a:spcAft>
                <a:spcPts val="1200"/>
              </a:spcAft>
              <a:defRPr sz="1400" b="1">
                <a:solidFill>
                  <a:srgbClr val="0F2E22"/>
                </a:solidFill>
              </a:defRPr>
            </a:pPr>
            <a:r>
              <a:t>Indian Regional Languages</a:t>
            </a:r>
          </a:p>
          <a:p>
            <a:pPr>
              <a:spcAft>
                <a:spcPts val="800"/>
              </a:spcAft>
              <a:defRPr sz="1100">
                <a:solidFill>
                  <a:srgbClr val="334155"/>
                </a:solidFill>
              </a:defRPr>
            </a:pPr>
            <a:r>
              <a:t>•  Taxonomy translation into Hindi, Tamil, Telugu, and Marathi.</a:t>
            </a:r>
          </a:p>
          <a:p>
            <a:pPr>
              <a:spcAft>
                <a:spcPts val="800"/>
              </a:spcAft>
              <a:defRPr sz="1100">
                <a:solidFill>
                  <a:srgbClr val="334155"/>
                </a:solidFill>
              </a:defRPr>
            </a:pPr>
            <a:r>
              <a:t>•  Support for regional cuisines (South Indian, Gujarati, Bengali).</a:t>
            </a:r>
          </a:p>
          <a:p>
            <a:pPr>
              <a:spcAft>
                <a:spcPts val="800"/>
              </a:spcAft>
              <a:defRPr sz="1100">
                <a:solidFill>
                  <a:srgbClr val="334155"/>
                </a:solidFill>
              </a:defRPr>
            </a:pPr>
            <a:r>
              <a:t>•  Brings clinical food intelligence to Tier 2 &amp; Tier 3 cities.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64224" y="5623560"/>
            <a:ext cx="2249424" cy="402336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950" b="1">
                <a:solidFill>
                  <a:srgbClr val="1B4D3E"/>
                </a:solidFill>
              </a:defRPr>
            </a:pPr>
            <a:r>
              <a:t>🚀  Q3 2027: Bharat Localization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97696" y="1463040"/>
            <a:ext cx="2578608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80576" y="1645920"/>
            <a:ext cx="2212848" cy="3977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800"/>
            </a:pPr>
            <a:r>
              <a:t>⌚</a:t>
            </a:r>
          </a:p>
          <a:p>
            <a:pPr>
              <a:spcAft>
                <a:spcPts val="200"/>
              </a:spcAft>
              <a:defRPr sz="950" b="1">
                <a:solidFill>
                  <a:srgbClr val="EA580C"/>
                </a:solidFill>
              </a:defRPr>
            </a:pPr>
            <a:r>
              <a:t>BIOMETRICS</a:t>
            </a:r>
          </a:p>
          <a:p>
            <a:pPr>
              <a:spcAft>
                <a:spcPts val="1200"/>
              </a:spcAft>
              <a:defRPr sz="1400" b="1">
                <a:solidFill>
                  <a:srgbClr val="0F2E22"/>
                </a:solidFill>
              </a:defRPr>
            </a:pPr>
            <a:r>
              <a:t>Wearable &amp; CGM Sync</a:t>
            </a:r>
          </a:p>
          <a:p>
            <a:pPr>
              <a:spcAft>
                <a:spcPts val="800"/>
              </a:spcAft>
              <a:defRPr sz="1100">
                <a:solidFill>
                  <a:srgbClr val="334155"/>
                </a:solidFill>
              </a:defRPr>
            </a:pPr>
            <a:r>
              <a:t>•  SDK connections to Apple HealthKit, Google Fit &amp; CGM sensors.</a:t>
            </a:r>
          </a:p>
          <a:p>
            <a:pPr>
              <a:spcAft>
                <a:spcPts val="800"/>
              </a:spcAft>
              <a:defRPr sz="1100">
                <a:solidFill>
                  <a:srgbClr val="334155"/>
                </a:solidFill>
              </a:defRPr>
            </a:pPr>
            <a:r>
              <a:t>•  Dynamically adjusts meal glycemic loads based on live activity.</a:t>
            </a:r>
          </a:p>
          <a:p>
            <a:pPr>
              <a:spcAft>
                <a:spcPts val="800"/>
              </a:spcAft>
              <a:defRPr sz="1100">
                <a:solidFill>
                  <a:srgbClr val="334155"/>
                </a:solidFill>
              </a:defRPr>
            </a:pPr>
            <a:r>
              <a:t>•  Closes the loop between daily energy burn and food intake.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62288" y="5623560"/>
            <a:ext cx="2249424" cy="402336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950" b="1">
                <a:solidFill>
                  <a:srgbClr val="1B4D3E"/>
                </a:solidFill>
              </a:defRPr>
            </a:pPr>
            <a:r>
              <a:t>🚀  Q4 2027: Continuous Sync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274320"/>
            <a:ext cx="10981944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EA580C"/>
                </a:solidFill>
              </a:defRPr>
            </a:pPr>
            <a:r>
              <a:t>7️⃣  IF WE HAD MORE TIME (NEXT PROJECT VISION)</a:t>
            </a:r>
          </a:p>
          <a:p>
            <a:pPr>
              <a:defRPr sz="2400" b="1">
                <a:solidFill>
                  <a:srgbClr val="0F2E22"/>
                </a:solidFill>
              </a:defRPr>
            </a:pPr>
            <a:r>
              <a:t>Project 'ConsumerShield': Autonomous Regulatory Escalation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Turning collective consumer grievances against substandard products into automated legal evidence and regulatory action.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6446520"/>
            <a:ext cx="10981944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NutriWise  |  Team ATOMIX  |  Hackday 1.0                                                                                  Slide 7 of 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3504" y="1463040"/>
            <a:ext cx="2331720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27632"/>
            <a:ext cx="2002536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EA580C"/>
                </a:solidFill>
              </a:defRPr>
            </a:pPr>
            <a:r>
              <a:t>STEP 1</a:t>
            </a:r>
          </a:p>
          <a:p>
            <a:pPr>
              <a:spcAft>
                <a:spcPts val="1000"/>
              </a:spcAft>
              <a:defRPr sz="1400" b="1">
                <a:solidFill>
                  <a:srgbClr val="0F2E22"/>
                </a:solidFill>
              </a:defRPr>
            </a:pPr>
            <a:r>
              <a:t>📸 Report with Proof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t>Consumers log defective goods with receipt photos, batch numbers &amp; lab tests.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8096" y="4069080"/>
            <a:ext cx="2002536" cy="384048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950" b="1">
                <a:solidFill>
                  <a:srgbClr val="1B4D3E"/>
                </a:solidFill>
              </a:defRPr>
            </a:pPr>
            <a:r>
              <a:t>User Submits Evidence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008376" y="2788920"/>
            <a:ext cx="320040" cy="320040"/>
          </a:xfrm>
          <a:prstGeom prst="rightArrow">
            <a:avLst/>
          </a:prstGeom>
          <a:solidFill>
            <a:srgbClr val="1B4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474720" y="1463040"/>
            <a:ext cx="2331720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39312" y="1627632"/>
            <a:ext cx="2002536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EA580C"/>
                </a:solidFill>
              </a:defRPr>
            </a:pPr>
            <a:r>
              <a:t>STEP 2</a:t>
            </a:r>
          </a:p>
          <a:p>
            <a:pPr>
              <a:spcAft>
                <a:spcPts val="1000"/>
              </a:spcAft>
              <a:defRPr sz="1400" b="1">
                <a:solidFill>
                  <a:srgbClr val="0F2E22"/>
                </a:solidFill>
              </a:defRPr>
            </a:pPr>
            <a:r>
              <a:t>🔍 AI Evidence Cluster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t>AI correlates independent reports to identify widespread batch safety violations.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39312" y="4069080"/>
            <a:ext cx="2002536" cy="384048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950" b="1">
                <a:solidFill>
                  <a:srgbClr val="1B4D3E"/>
                </a:solidFill>
              </a:defRPr>
            </a:pPr>
            <a:r>
              <a:t>Pattern Detected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879592" y="2788920"/>
            <a:ext cx="320040" cy="320040"/>
          </a:xfrm>
          <a:prstGeom prst="rightArrow">
            <a:avLst/>
          </a:prstGeom>
          <a:solidFill>
            <a:srgbClr val="1B4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45936" y="1463040"/>
            <a:ext cx="2331720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0528" y="1627632"/>
            <a:ext cx="2002536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EA580C"/>
                </a:solidFill>
              </a:defRPr>
            </a:pPr>
            <a:r>
              <a:t>STEP 3</a:t>
            </a:r>
          </a:p>
          <a:p>
            <a:pPr>
              <a:spcAft>
                <a:spcPts val="1000"/>
              </a:spcAft>
              <a:defRPr sz="1400" b="1">
                <a:solidFill>
                  <a:srgbClr val="0F2E22"/>
                </a:solidFill>
              </a:defRPr>
            </a:pPr>
            <a:r>
              <a:t>⚖️ Auto-Legal Filing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t>Auto-compiles formal petitions &amp; dispatches directly to FSSAI &amp; Consumer Courts.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10528" y="4069080"/>
            <a:ext cx="2002536" cy="384048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950" b="1">
                <a:solidFill>
                  <a:srgbClr val="1B4D3E"/>
                </a:solidFill>
              </a:defRPr>
            </a:pPr>
            <a:r>
              <a:t>Petition Dispatched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750808" y="2788920"/>
            <a:ext cx="320040" cy="320040"/>
          </a:xfrm>
          <a:prstGeom prst="rightArrow">
            <a:avLst/>
          </a:prstGeom>
          <a:solidFill>
            <a:srgbClr val="1B4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217152" y="1463040"/>
            <a:ext cx="2331720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81744" y="1627632"/>
            <a:ext cx="2002536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EA580C"/>
                </a:solidFill>
              </a:defRPr>
            </a:pPr>
            <a:r>
              <a:t>STEP 4</a:t>
            </a:r>
          </a:p>
          <a:p>
            <a:pPr>
              <a:spcAft>
                <a:spcPts val="1000"/>
              </a:spcAft>
              <a:defRPr sz="1400" b="1">
                <a:solidFill>
                  <a:srgbClr val="0F2E22"/>
                </a:solidFill>
              </a:defRPr>
            </a:pPr>
            <a:r>
              <a:t>📢 Public Action Tracker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t>Transparent dashboard tracking authority notices, recalls &amp; corporate penalties.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81744" y="4069080"/>
            <a:ext cx="2002536" cy="384048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950" b="1">
                <a:solidFill>
                  <a:srgbClr val="1B4D3E"/>
                </a:solidFill>
              </a:defRPr>
            </a:pPr>
            <a:r>
              <a:t>Enforcement Live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3504" y="4754880"/>
            <a:ext cx="10981944" cy="1508760"/>
          </a:xfrm>
          <a:prstGeom prst="roundRect">
            <a:avLst/>
          </a:prstGeom>
          <a:solidFill>
            <a:srgbClr val="0F2E22"/>
          </a:solidFill>
          <a:ln w="19050">
            <a:solidFill>
              <a:srgbClr val="0F2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4892040"/>
            <a:ext cx="10543032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700" b="1">
                <a:solidFill>
                  <a:srgbClr val="FFFFFF"/>
                </a:solidFill>
              </a:defRPr>
            </a:pPr>
            <a:r>
              <a:t>🎯  The Grand Vision: Democratizing Product Safety &amp; Consumer Justice in India</a:t>
            </a:r>
          </a:p>
          <a:p>
            <a:pPr algn="ctr">
              <a:defRPr sz="1200">
                <a:solidFill>
                  <a:srgbClr val="D1FAE5"/>
                </a:solidFill>
              </a:defRPr>
            </a:pPr>
            <a:r>
              <a:t>Today, corporations bury single complaints. ConsumerShield transforms individual consumer frustration into collective, legally admissible evidence — automating regulatory enforcement under the Consumer Protection Act and FSSAI guidelines to hold food &amp; product manufacturers accountable.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