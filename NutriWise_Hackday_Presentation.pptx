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74320"/>
            <a:ext cx="109819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</a:defRPr>
            </a:pPr>
            <a:r>
              <a:t>1️⃣  PROBLEM STATEMENT</a:t>
            </a:r>
          </a:p>
          <a:p>
            <a:pPr>
              <a:defRPr sz="2400" b="1">
                <a:solidFill>
                  <a:srgbClr val="0F2E22"/>
                </a:solidFill>
              </a:defRPr>
            </a:pPr>
            <a:r>
              <a:t>The Crisis of Unverified &amp; Hallucinatory AI in Nutrition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Generic AI chatbots give ungrounded, dangerous advice with zero medical accountability.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4652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NutriWise  |  Team DECODEP  |  Hackday 1.0 Final Submission                                                                   Slide 1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63040"/>
            <a:ext cx="5349240" cy="3977639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8006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DC2626"/>
                </a:solidFill>
              </a:defRPr>
            </a:pPr>
            <a:r>
              <a:t>❌  Generic AI Chatbots (ChatGPT / Gemini)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 Fake Recipes &amp; Claims: </a:t>
            </a:r>
            <a:r>
              <a:rPr b="0" sz="1150">
                <a:solidFill>
                  <a:srgbClr val="334155"/>
                </a:solidFill>
              </a:rPr>
              <a:t>Hallucinates nutritional values and invented health benefits.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 Zero Medical Citations: </a:t>
            </a:r>
            <a:r>
              <a:rPr b="0" sz="1150">
                <a:solidFill>
                  <a:srgbClr val="334155"/>
                </a:solidFill>
              </a:rPr>
              <a:t>No book sources, page numbers, or clinical references to verify.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 Climate &amp; Weather Blind: </a:t>
            </a:r>
            <a:r>
              <a:rPr b="0" sz="1150">
                <a:solidFill>
                  <a:srgbClr val="334155"/>
                </a:solidFill>
              </a:rPr>
              <a:t>Ignores local temperature, monsoons, and natural body heat.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 Chatbot UX Fatigue: </a:t>
            </a:r>
            <a:r>
              <a:rPr b="0" sz="1150">
                <a:solidFill>
                  <a:srgbClr val="334155"/>
                </a:solidFill>
              </a:rPr>
              <a:t>Requires 20 minutes of chatting instead of an instant whole-day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800600"/>
            <a:ext cx="480060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DC2626"/>
                </a:solidFill>
              </a:defRPr>
            </a:pPr>
            <a:r>
              <a:t>⚠️  CRITICAL RISK: Unverified AI recipes can trigger acute medical emergencies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63040"/>
            <a:ext cx="5349240" cy="3977639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1691640"/>
            <a:ext cx="48006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B45309"/>
                </a:solidFill>
              </a:defRPr>
            </a:pPr>
            <a:r>
              <a:t>⚠️  The Real-World Health Hazards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 Diabetic Health Hazards: </a:t>
            </a:r>
            <a:r>
              <a:rPr b="0" sz="1150">
                <a:solidFill>
                  <a:srgbClr val="334155"/>
                </a:solidFill>
              </a:rPr>
              <a:t>Recommending high-glycemic foods disguised as 'healthy' snacks.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 Allergy Contamination: </a:t>
            </a:r>
            <a:r>
              <a:rPr b="0" sz="1150">
                <a:solidFill>
                  <a:srgbClr val="334155"/>
                </a:solidFill>
              </a:rPr>
              <a:t>Deadly errors for Celiac (gluten) &amp; severe nut allergy sufferers.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 Contradictory Regimens: </a:t>
            </a:r>
            <a:r>
              <a:rPr b="0" sz="1150">
                <a:solidFill>
                  <a:srgbClr val="334155"/>
                </a:solidFill>
              </a:rPr>
              <a:t>Conflicting diet advice that undermines prescribed medicines.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 Zero Legal Recourse: </a:t>
            </a:r>
            <a:r>
              <a:rPr b="0" sz="1150">
                <a:solidFill>
                  <a:srgbClr val="334155"/>
                </a:solidFill>
              </a:rPr>
              <a:t>When patients fall ill, no one is accountable for chatbot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1384" y="4800600"/>
            <a:ext cx="4800600" cy="411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92400E"/>
                </a:solidFill>
              </a:defRPr>
            </a:pPr>
            <a:r>
              <a:t>📉  DATA REALITY: 83% of commercial AI diet answers lack empirical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5623560"/>
            <a:ext cx="10981944" cy="685800"/>
          </a:xfrm>
          <a:prstGeom prst="roundRect">
            <a:avLst/>
          </a:prstGeom>
          <a:solidFill>
            <a:srgbClr val="0F2E22"/>
          </a:solidFill>
          <a:ln w="19050">
            <a:solidFill>
              <a:srgbClr val="0F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715000"/>
            <a:ext cx="10616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💡  Core Reality: Clinical nutrition demands 100% mathematical certainty — not creative AI guessing.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74320"/>
            <a:ext cx="109819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</a:defRPr>
            </a:pPr>
            <a:r>
              <a:t>2️⃣  PROPOSED SOLUTION</a:t>
            </a:r>
          </a:p>
          <a:p>
            <a:pPr>
              <a:defRPr sz="2400" b="1">
                <a:solidFill>
                  <a:srgbClr val="0F2E22"/>
                </a:solidFill>
              </a:defRPr>
            </a:pPr>
            <a:r>
              <a:t>NutriWise: 100% Source-Grounded Dietary Intelligence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 hybrid clinical system combining verified literature RAG with deterministic safety shields.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4652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NutriWise  |  Team DECODEP  |  Hackday 1.0 Final Submission                                                                   Slide 2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63040"/>
            <a:ext cx="2331720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72768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F2E22"/>
                </a:solidFill>
              </a:defRPr>
            </a:pPr>
            <a:r>
              <a:t>1. Ingest Literature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Uploaded books, EPUBs &amp; clinical research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08376" y="1920240"/>
            <a:ext cx="320040" cy="292608"/>
          </a:xfrm>
          <a:prstGeom prst="rightArrow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331720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72768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F2E22"/>
                </a:solidFill>
              </a:defRPr>
            </a:pPr>
            <a:r>
              <a:t>2. Safety Shield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Hard filters eliminate allergens &amp; medical AVOID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79592" y="1920240"/>
            <a:ext cx="320040" cy="292608"/>
          </a:xfrm>
          <a:prstGeom prst="rightArrow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45936" y="1463040"/>
            <a:ext cx="2331720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572768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F2E22"/>
                </a:solidFill>
              </a:defRPr>
            </a:pPr>
            <a:r>
              <a:t>3. Grounded RAG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Gemini selects ONLY candidate foods in DB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50808" y="1920240"/>
            <a:ext cx="320040" cy="292608"/>
          </a:xfrm>
          <a:prstGeom prst="rightArrow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17152" y="1463040"/>
            <a:ext cx="2331720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572768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F2E22"/>
                </a:solidFill>
              </a:defRPr>
            </a:pPr>
            <a:r>
              <a:t>4. Daily Meal Plan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Ready in &lt; 15ms with verified book page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2834640"/>
            <a:ext cx="3456432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035808"/>
            <a:ext cx="299923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ABSOLUTE GROUNDING</a:t>
            </a:r>
          </a:p>
          <a:p>
            <a:pPr>
              <a:spcAft>
                <a:spcPts val="1200"/>
              </a:spcAft>
              <a:defRPr sz="1500" b="1">
                <a:solidFill>
                  <a:srgbClr val="0F2E22"/>
                </a:solidFill>
              </a:defRPr>
            </a:pPr>
            <a:r>
              <a:t>🛡️  Zero-Hallucination RAG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✓  AI is locked to candidate food records from ingested books.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✓  Cannot invent dishes, recipes, or unverified claims.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✓  Books and clinical research are treated as authoritative law.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" y="5623560"/>
            <a:ext cx="2999232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🎯  100% Verified Book Grounding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2834640"/>
            <a:ext cx="3456432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035808"/>
            <a:ext cx="299923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COMPLETE TRANSPARENCY</a:t>
            </a:r>
          </a:p>
          <a:p>
            <a:pPr>
              <a:spcAft>
                <a:spcPts val="1200"/>
              </a:spcAft>
              <a:defRPr sz="1500" b="1">
                <a:solidFill>
                  <a:srgbClr val="0F2E22"/>
                </a:solidFill>
              </a:defRPr>
            </a:pPr>
            <a:r>
              <a:t>📖  Verified Book Citations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✓  Every food card shows exact book title, chapter &amp; page number.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✓  Interactive citation modal displays the author's medical quote.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✓  Users and doctors can audit the exact clinical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288" y="5623560"/>
            <a:ext cx="2999232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🔍  Exact Source Quote on Every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2834640"/>
            <a:ext cx="3456432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9923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THERMOREGULATED NUTRITION</a:t>
            </a:r>
          </a:p>
          <a:p>
            <a:pPr>
              <a:spcAft>
                <a:spcPts val="1200"/>
              </a:spcAft>
              <a:defRPr sz="1500" b="1">
                <a:solidFill>
                  <a:srgbClr val="0F2E22"/>
                </a:solidFill>
              </a:defRPr>
            </a:pPr>
            <a:r>
              <a:t>☀️  Weather &amp; Climate Adaptive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✓  Live OpenWeather API integration maps real-time heat &amp; rain.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✓  Promotes cooling foods during heatwaves, warming foods in cold.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✓  Harmonizes modern nutrition with traditional seasonal wisdom.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48472" y="5623560"/>
            <a:ext cx="2999232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🌡️  Real-Time Ambient Weather 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74320"/>
            <a:ext cx="109819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</a:defRPr>
            </a:pPr>
            <a:r>
              <a:t>3️⃣  TARGET USERS</a:t>
            </a:r>
          </a:p>
          <a:p>
            <a:pPr>
              <a:defRPr sz="2400" b="1">
                <a:solidFill>
                  <a:srgbClr val="0F2E22"/>
                </a:solidFill>
              </a:defRPr>
            </a:pPr>
            <a:r>
              <a:t>Built for Real Clinical &amp; Lifestyle Nutrition Needs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Serving high-stakes medical conditions, severe allergy sufferers, and health-conscious families.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4652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NutriWise  |  Team DECODEP  |  Hackday 1.0 Final Submission                                                                   Slide 3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63040"/>
            <a:ext cx="2578608" cy="4754880"/>
          </a:xfrm>
          <a:prstGeom prst="roundRect">
            <a:avLst/>
          </a:prstGeom>
          <a:solidFill>
            <a:srgbClr val="FEF2F2"/>
          </a:solidFill>
          <a:ln w="228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45920"/>
            <a:ext cx="221284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/>
            </a:pPr>
            <a:r>
              <a:t>🩸</a:t>
            </a:r>
          </a:p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</a:defRPr>
            </a:pPr>
            <a:r>
              <a:t>CHRONIC ILLNESS</a:t>
            </a:r>
          </a:p>
          <a:p>
            <a:pPr>
              <a:spcAft>
                <a:spcPts val="1200"/>
              </a:spcAft>
              <a:defRPr sz="1400" b="1">
                <a:solidFill>
                  <a:srgbClr val="0F2E22"/>
                </a:solidFill>
              </a:defRPr>
            </a:pPr>
            <a:r>
              <a:t>Diabetics &amp; Cardiac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Strict low-glycemic foods to stabilize daily blood sugar spikes.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Low-sodium, heart-healthy lipids &amp; high soluble fiber.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PCOS &amp; Thyroid hormonal balance through targeted diet.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5623560"/>
            <a:ext cx="224942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0F2E22"/>
                </a:solidFill>
              </a:defRPr>
            </a:pPr>
            <a:r>
              <a:t>🎯  Blood Sugar &amp; BP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463040"/>
            <a:ext cx="2578608" cy="4754880"/>
          </a:xfrm>
          <a:prstGeom prst="roundRect">
            <a:avLst/>
          </a:prstGeom>
          <a:solidFill>
            <a:srgbClr val="FAF5FF"/>
          </a:solidFill>
          <a:ln w="2286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645920"/>
            <a:ext cx="221284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/>
            </a:pPr>
            <a:r>
              <a:t>🚫</a:t>
            </a:r>
          </a:p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</a:defRPr>
            </a:pPr>
            <a:r>
              <a:t>ZERO-TOLERANCE</a:t>
            </a:r>
          </a:p>
          <a:p>
            <a:pPr>
              <a:spcAft>
                <a:spcPts val="1200"/>
              </a:spcAft>
              <a:defRPr sz="1400" b="1">
                <a:solidFill>
                  <a:srgbClr val="0F2E22"/>
                </a:solidFill>
              </a:defRPr>
            </a:pPr>
            <a:r>
              <a:t>Severe Allergies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Celiac disease (gluten), lactose, and severe nut allergies.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100% binary safety filtering with zero cross-contamination.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Pantry alternative matcher when dishes cannot be cooked.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5623560"/>
            <a:ext cx="224942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0F2E22"/>
                </a:solidFill>
              </a:defRPr>
            </a:pPr>
            <a:r>
              <a:t>🛡️  0% Cross-Contamination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63040"/>
            <a:ext cx="2578608" cy="4754880"/>
          </a:xfrm>
          <a:prstGeom prst="roundRect">
            <a:avLst/>
          </a:prstGeom>
          <a:solidFill>
            <a:srgbClr val="ECFDF5"/>
          </a:solidFill>
          <a:ln w="228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45920"/>
            <a:ext cx="221284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/>
            </a:pPr>
            <a:r>
              <a:t>🌿</a:t>
            </a:r>
          </a:p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</a:defRPr>
            </a:pPr>
            <a:r>
              <a:t>NATURAL WELLNESS</a:t>
            </a:r>
          </a:p>
          <a:p>
            <a:pPr>
              <a:spcAft>
                <a:spcPts val="1200"/>
              </a:spcAft>
              <a:defRPr sz="1400" b="1">
                <a:solidFill>
                  <a:srgbClr val="0F2E22"/>
                </a:solidFill>
              </a:defRPr>
            </a:pPr>
            <a:r>
              <a:t>Seasonal &amp; Holistic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Eaters seeking natural body thermoregulation.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Aligns diet with live local heatwaves, monsoons, and chills.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Rooted in verified Ayurvedic &amp; traditional food science.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5623560"/>
            <a:ext cx="224942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0F2E22"/>
                </a:solidFill>
              </a:defRPr>
            </a:pPr>
            <a:r>
              <a:t>🌡️  Thermoregulated Nutrition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463040"/>
            <a:ext cx="2578608" cy="475488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645920"/>
            <a:ext cx="221284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/>
            </a:pPr>
            <a:r>
              <a:t>⏱️</a:t>
            </a:r>
          </a:p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</a:defRPr>
            </a:pPr>
            <a:r>
              <a:t>DAILY EFFICIENCY</a:t>
            </a:r>
          </a:p>
          <a:p>
            <a:pPr>
              <a:spcAft>
                <a:spcPts val="1200"/>
              </a:spcAft>
              <a:defRPr sz="1400" b="1">
                <a:solidFill>
                  <a:srgbClr val="0F2E22"/>
                </a:solidFill>
              </a:defRPr>
            </a:pPr>
            <a:r>
              <a:t>Busy Families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Instant whole-day meal roadmap (Breakfast to Dinner) in &lt; 15ms.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Zero tedious calorie counting or spreadsheet tracking.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Pantry-friendly ingredients with simple home cooking.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5623560"/>
            <a:ext cx="224942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0F2E22"/>
                </a:solidFill>
              </a:defRPr>
            </a:pPr>
            <a:r>
              <a:t>⚡  Complete Day Plan in &lt; 15ms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74320"/>
            <a:ext cx="109819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</a:defRPr>
            </a:pPr>
            <a:r>
              <a:t>4️⃣  TECHNICAL APPROACH</a:t>
            </a:r>
          </a:p>
          <a:p>
            <a:pPr>
              <a:defRPr sz="2400" b="1">
                <a:solidFill>
                  <a:srgbClr val="0F2E22"/>
                </a:solidFill>
              </a:defRPr>
            </a:pPr>
            <a:r>
              <a:t>Hybrid Clinical Engine: Fast, Safe, and Grounded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Engineered for sub-15ms cached serving, strict RAG grounding, and autonomous pattern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4652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NutriWise  |  Team DECODEP  |  Hackday 1.0 Final Submission                                                                   Slide 4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63040"/>
            <a:ext cx="2578608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45920"/>
            <a:ext cx="22128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E22"/>
                </a:solidFill>
              </a:defRPr>
            </a:pPr>
            <a:r>
              <a:t>📥  1. Ingestion Pipeline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PyMuPDF, ebooklib &amp; BS4 strip noise, extract canonical foods &amp; composite ingredients.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463040"/>
            <a:ext cx="2578608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645920"/>
            <a:ext cx="22128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E22"/>
                </a:solidFill>
              </a:defRPr>
            </a:pPr>
            <a:r>
              <a:t>🛡️  2. Clinical Hard Filters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6-stage safety shield eliminates allergens, medical AVOID conditions &amp; dislikes.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78608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45920"/>
            <a:ext cx="22128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E22"/>
                </a:solidFill>
              </a:defRPr>
            </a:pPr>
            <a:r>
              <a:t>🧠  3. Grounded Gemini AI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Curates complementary meals with multi-model fallback (3.6 → 3.5 → latest → 2.5).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463040"/>
            <a:ext cx="2578608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0576" y="1645920"/>
            <a:ext cx="22128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E22"/>
                </a:solidFill>
              </a:defRPr>
            </a:pPr>
            <a:r>
              <a:t>⚡  4. Auto-Learner &amp; Cache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Distills rationale into DB benefits; caches daily plan for instant local serving.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86200"/>
            <a:ext cx="3456432" cy="2331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050792"/>
            <a:ext cx="30906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2E22"/>
                </a:solidFill>
              </a:defRPr>
            </a:pPr>
            <a:r>
              <a:t>&lt; 15 ms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</a:defRPr>
            </a:pPr>
            <a:r>
              <a:t>Lightning Serving Speed</a:t>
            </a:r>
          </a:p>
          <a:p>
            <a:pPr algn="ctr">
              <a:defRPr sz="1050">
                <a:solidFill>
                  <a:srgbClr val="334155"/>
                </a:solidFill>
              </a:defRPr>
            </a:pPr>
            <a:r>
              <a:t>Cached in local SQLite database; zero lag on dashboard reloads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5669280"/>
            <a:ext cx="309067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⚡  Instant UI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3886200"/>
            <a:ext cx="3456432" cy="2331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4050792"/>
            <a:ext cx="30906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2E22"/>
                </a:solidFill>
              </a:defRPr>
            </a:pPr>
            <a:r>
              <a:t>0 API Calls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</a:defRPr>
            </a:pPr>
            <a:r>
              <a:t>Zero Rate-Limit Risk</a:t>
            </a:r>
          </a:p>
          <a:p>
            <a:pPr algn="ctr">
              <a:defRPr sz="1050">
                <a:solidFill>
                  <a:srgbClr val="334155"/>
                </a:solidFill>
              </a:defRPr>
            </a:pPr>
            <a:r>
              <a:t>Page reloads make zero external API calls, ensuring high availability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4568" y="5669280"/>
            <a:ext cx="309067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🛡️  Zero-Dependency Reloads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3886200"/>
            <a:ext cx="3456432" cy="2331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050792"/>
            <a:ext cx="30906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2E22"/>
                </a:solidFill>
              </a:defRPr>
            </a:pPr>
            <a:r>
              <a:t>100% Grounded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</a:defRPr>
            </a:pPr>
            <a:r>
              <a:t>Zero Hallucinations</a:t>
            </a:r>
          </a:p>
          <a:p>
            <a:pPr algn="ctr">
              <a:defRPr sz="1050">
                <a:solidFill>
                  <a:srgbClr val="334155"/>
                </a:solidFill>
              </a:defRPr>
            </a:pPr>
            <a:r>
              <a:t>Every recommendation verified against published literature with citations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2" y="5669280"/>
            <a:ext cx="309067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📚  Peer-Reviewed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74320"/>
            <a:ext cx="109819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</a:defRPr>
            </a:pPr>
            <a:r>
              <a:t>5️⃣  MARKET &amp; BUSINESS POTENTIAL</a:t>
            </a:r>
          </a:p>
          <a:p>
            <a:pPr>
              <a:defRPr sz="2400" b="1">
                <a:solidFill>
                  <a:srgbClr val="0F2E22"/>
                </a:solidFill>
              </a:defRPr>
            </a:pPr>
            <a:r>
              <a:t>Monetizing the ₹94,000+ Cr ($11.3B) Nutrition Market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Multi-stream revenue model in Indian Rupees (INR): consumer freemium, clinical B2B SaaS, and quick-commerce.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4652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NutriWise  |  Team DECODEP  |  Hackday 1.0 Final Submission                                                                   Slide 5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17320"/>
            <a:ext cx="10981944" cy="1097280"/>
          </a:xfrm>
          <a:prstGeom prst="roundRect">
            <a:avLst/>
          </a:prstGeom>
          <a:solidFill>
            <a:srgbClr val="0F2E22"/>
          </a:solidFill>
          <a:ln w="19050">
            <a:solidFill>
              <a:srgbClr val="0F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05430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📈  ₹94,000+ Crore ($11.3B) Global Market  ·  16.4% CAGR (2024–2030)</a:t>
            </a:r>
          </a:p>
          <a:p>
            <a:pPr algn="ctr">
              <a:spcBef>
                <a:spcPts val="400"/>
              </a:spcBef>
              <a:defRPr sz="1200">
                <a:solidFill>
                  <a:srgbClr val="D1FAE5"/>
                </a:solidFill>
              </a:defRPr>
            </a:pPr>
            <a:r>
              <a:t>🇮🇳  India's Preventive Healthcare &amp; Dietary Wellness Market is expanding at 22% CAGR, driven by the urban metabolic health crisis.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697480"/>
            <a:ext cx="3456432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880360"/>
            <a:ext cx="299923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👤  B2C CONSUMER</a:t>
            </a:r>
          </a:p>
          <a:p>
            <a:pPr>
              <a:defRPr sz="1500" b="1">
                <a:solidFill>
                  <a:srgbClr val="0F2E22"/>
                </a:solidFill>
              </a:defRPr>
            </a:pPr>
            <a:r>
              <a:t>Freemium Subscription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4D3E"/>
                </a:solidFill>
              </a:rPr>
              <a:t>₹399 / Month</a:t>
            </a:r>
            <a:r>
              <a:rPr sz="1000">
                <a:solidFill>
                  <a:srgbClr val="64748B"/>
                </a:solidFill>
              </a:rPr>
              <a:t>  (₹2,999 / Year)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Free: Daily verified meal plans &amp; ingredient alternatives.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Pro: Access to specialized clinical book packs (Renal, PCOS, Heart).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Family health profiles with shared grocery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5715000"/>
            <a:ext cx="2999232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0F2E22"/>
                </a:solidFill>
              </a:defRPr>
            </a:pPr>
            <a:r>
              <a:t>🎯  Target: 50,000 Users = ₹24 Cr ARR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697480"/>
            <a:ext cx="3456432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880360"/>
            <a:ext cx="299923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🏥  B2B HEALTHCARE</a:t>
            </a:r>
          </a:p>
          <a:p>
            <a:pPr>
              <a:defRPr sz="1500" b="1">
                <a:solidFill>
                  <a:srgbClr val="0F2E22"/>
                </a:solidFill>
              </a:defRPr>
            </a:pPr>
            <a:r>
              <a:t>Clinical Dietitian SaaS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4D3E"/>
                </a:solidFill>
              </a:rPr>
              <a:t>₹14,999 / Month</a:t>
            </a:r>
            <a:r>
              <a:rPr sz="1000">
                <a:solidFill>
                  <a:srgbClr val="64748B"/>
                </a:solidFill>
              </a:rPr>
              <a:t>  (Per Hospital / Clinic)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Licensed software for hospitals, outpatient dietitians &amp; metabolic clinics.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Enables doctors to upload proprietary clinical literature.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Generates verified, personalized patient diet plans in 5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0288" y="5715000"/>
            <a:ext cx="2999232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0F2E22"/>
                </a:solidFill>
              </a:defRPr>
            </a:pPr>
            <a:r>
              <a:t>🎯  Target: 500 Clinics = ₹9 Cr ARR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2697480"/>
            <a:ext cx="3456432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2880360"/>
            <a:ext cx="299923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🛒  QUICK-COMMERCE</a:t>
            </a:r>
          </a:p>
          <a:p>
            <a:pPr>
              <a:defRPr sz="1500" b="1">
                <a:solidFill>
                  <a:srgbClr val="0F2E22"/>
                </a:solidFill>
              </a:defRPr>
            </a:pPr>
            <a:r>
              <a:t>1-Click Grocery Carts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4D3E"/>
                </a:solidFill>
              </a:rPr>
              <a:t>3% – 7% GMV</a:t>
            </a:r>
            <a:r>
              <a:rPr sz="1000">
                <a:solidFill>
                  <a:srgbClr val="64748B"/>
                </a:solidFill>
              </a:rPr>
              <a:t>  (Affiliate Commission)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API partnerships with Blinkit, Zepto, Swiggy Instamart &amp; BigBasket.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1-click 'Cart My Plan': Automatically populates required fresh ingredients.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High order conversion on high-intent daily cooking recipes.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8472" y="5715000"/>
            <a:ext cx="2999232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0F2E22"/>
                </a:solidFill>
              </a:defRPr>
            </a:pPr>
            <a:r>
              <a:t>🎯  Target: ₹50 Lakhs Monthly GMV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74320"/>
            <a:ext cx="109819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</a:defRPr>
            </a:pPr>
            <a:r>
              <a:t>6️⃣  SCALABILITY &amp; FUTURE</a:t>
            </a:r>
          </a:p>
          <a:p>
            <a:pPr>
              <a:defRPr sz="2400" b="1">
                <a:solidFill>
                  <a:srgbClr val="0F2E22"/>
                </a:solidFill>
              </a:defRPr>
            </a:pPr>
            <a:r>
              <a:t>Engineering for Millions: Speed, Scale, and Localization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Transitioning from hackathon prototype to robust enterprise-grade healthcare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4652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NutriWise  |  Team DECODEP  |  Hackday 1.0 Final Submission                                                                   Slide 6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63040"/>
            <a:ext cx="257860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45920"/>
            <a:ext cx="221284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/>
            </a:pPr>
            <a:r>
              <a:t>🗄️</a:t>
            </a:r>
          </a:p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</a:defRPr>
            </a:pPr>
            <a:r>
              <a:t>DATA ARCHITECTURE</a:t>
            </a:r>
          </a:p>
          <a:p>
            <a:pPr>
              <a:spcAft>
                <a:spcPts val="1200"/>
              </a:spcAft>
              <a:defRPr sz="1400" b="1">
                <a:solidFill>
                  <a:srgbClr val="0F2E22"/>
                </a:solidFill>
              </a:defRPr>
            </a:pPr>
            <a:r>
              <a:t>PostgreSQL + pgvector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Seamless upgrade to PostgreSQL with pgvector embeddings.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Sub-50ms semantic RAG search across millions of medical pages.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Partitioned indexing by clinical condition &amp; culinary region.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5623560"/>
            <a:ext cx="2249424" cy="402336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🚀  Q1 2027: Enterprise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463040"/>
            <a:ext cx="257860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645920"/>
            <a:ext cx="221284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/>
            </a:pPr>
            <a:r>
              <a:t>⚡</a:t>
            </a:r>
          </a:p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</a:defRPr>
            </a:pPr>
            <a:r>
              <a:t>HIGH-THROUGHPUT</a:t>
            </a:r>
          </a:p>
          <a:p>
            <a:pPr>
              <a:spcAft>
                <a:spcPts val="1200"/>
              </a:spcAft>
              <a:defRPr sz="1400" b="1">
                <a:solidFill>
                  <a:srgbClr val="0F2E22"/>
                </a:solidFill>
              </a:defRPr>
            </a:pPr>
            <a:r>
              <a:t>Distributed Worker Queues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Celery + Redis worker cluster for async OCR and PDF ingestion.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Decouples gigabyte-scale document processing from web traffic.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Auto-scaling stateless Docker containers on cloud clusters.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5623560"/>
            <a:ext cx="2249424" cy="402336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🚀  Q2 2027: Async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63040"/>
            <a:ext cx="257860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45920"/>
            <a:ext cx="221284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/>
            </a:pPr>
            <a:r>
              <a:t>🇮🇳</a:t>
            </a:r>
          </a:p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</a:defRPr>
            </a:pPr>
            <a:r>
              <a:t>LOCAL ACCESS</a:t>
            </a:r>
          </a:p>
          <a:p>
            <a:pPr>
              <a:spcAft>
                <a:spcPts val="1200"/>
              </a:spcAft>
              <a:defRPr sz="1400" b="1">
                <a:solidFill>
                  <a:srgbClr val="0F2E22"/>
                </a:solidFill>
              </a:defRPr>
            </a:pPr>
            <a:r>
              <a:t>Indian Regional Languages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Taxonomy translation into Hindi, Tamil, Telugu, and Marathi.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Support for regional cuisines (South Indian, Gujarati, Bengali).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Brings clinical food intelligence to Tier 2 &amp; Tier 3 cities.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5623560"/>
            <a:ext cx="2249424" cy="402336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🚀  Q3 2027: Bharat Localization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463040"/>
            <a:ext cx="257860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645920"/>
            <a:ext cx="221284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/>
            </a:pPr>
            <a:r>
              <a:t>⌚</a:t>
            </a:r>
          </a:p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</a:defRPr>
            </a:pPr>
            <a:r>
              <a:t>BIOMETRICS</a:t>
            </a:r>
          </a:p>
          <a:p>
            <a:pPr>
              <a:spcAft>
                <a:spcPts val="1200"/>
              </a:spcAft>
              <a:defRPr sz="1400" b="1">
                <a:solidFill>
                  <a:srgbClr val="0F2E22"/>
                </a:solidFill>
              </a:defRPr>
            </a:pPr>
            <a:r>
              <a:t>Wearable &amp; CGM Sync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SDK connections to Apple HealthKit, Google Fit &amp; CGM sensors.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Dynamically adjusts meal glycemic loads based on live activity.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 Closes the loop between daily energy burn and food intake.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5623560"/>
            <a:ext cx="2249424" cy="402336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🚀  Q4 2027: Continuous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74320"/>
            <a:ext cx="109819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</a:defRPr>
            </a:pPr>
            <a:r>
              <a:t>7️⃣  IF WE HAD MORE TIME (NEXT PROJECT VISION)</a:t>
            </a:r>
          </a:p>
          <a:p>
            <a:pPr>
              <a:defRPr sz="2400" b="1">
                <a:solidFill>
                  <a:srgbClr val="0F2E22"/>
                </a:solidFill>
              </a:defRPr>
            </a:pPr>
            <a:r>
              <a:t>Project 'ConsumerShield': Autonomous Regulatory Escalation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Turning collective consumer grievances against substandard products into automated legal evidence and regulatory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4652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NutriWise  |  Team DECODEP  |  Hackday 1.0 Final Submission                                                                   Slide 7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63040"/>
            <a:ext cx="23317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27632"/>
            <a:ext cx="20025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400" b="1">
                <a:solidFill>
                  <a:srgbClr val="0F2E22"/>
                </a:solidFill>
              </a:defRPr>
            </a:pPr>
            <a:r>
              <a:t>📸 Report with Proof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Consumers log defective goods with receipt photos, batch numbers &amp; lab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069080"/>
            <a:ext cx="2002536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User Submits Evidence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08376" y="2788920"/>
            <a:ext cx="320040" cy="320040"/>
          </a:xfrm>
          <a:prstGeom prst="rightArrow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3317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27632"/>
            <a:ext cx="20025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400" b="1">
                <a:solidFill>
                  <a:srgbClr val="0F2E22"/>
                </a:solidFill>
              </a:defRPr>
            </a:pPr>
            <a:r>
              <a:t>🔍 AI Evidence Cluster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AI correlates independent reports to identify widespread batch safety violations.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9312" y="4069080"/>
            <a:ext cx="2002536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Pattern Detected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79592" y="2788920"/>
            <a:ext cx="320040" cy="320040"/>
          </a:xfrm>
          <a:prstGeom prst="rightArrow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5936" y="1463040"/>
            <a:ext cx="23317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627632"/>
            <a:ext cx="20025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400" b="1">
                <a:solidFill>
                  <a:srgbClr val="0F2E22"/>
                </a:solidFill>
              </a:defRPr>
            </a:pPr>
            <a:r>
              <a:t>⚖️ Auto-Legal Filing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Auto-compiles formal petitions &amp; dispatches directly to FSSAI &amp; Consumer Courts.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4069080"/>
            <a:ext cx="2002536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Petition Dispatched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50808" y="2788920"/>
            <a:ext cx="320040" cy="320040"/>
          </a:xfrm>
          <a:prstGeom prst="rightArrow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17152" y="1463040"/>
            <a:ext cx="23317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1627632"/>
            <a:ext cx="20025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1400" b="1">
                <a:solidFill>
                  <a:srgbClr val="0F2E22"/>
                </a:solidFill>
              </a:defRPr>
            </a:pPr>
            <a:r>
              <a:t>📢 Public Action Tracker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Transparent dashboard tracking authority notices, recalls &amp; corporate penalties.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81744" y="4069080"/>
            <a:ext cx="2002536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t>Enforcement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4754880"/>
            <a:ext cx="10981944" cy="1508760"/>
          </a:xfrm>
          <a:prstGeom prst="roundRect">
            <a:avLst/>
          </a:prstGeom>
          <a:solidFill>
            <a:srgbClr val="0F2E22"/>
          </a:solidFill>
          <a:ln w="19050">
            <a:solidFill>
              <a:srgbClr val="0F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543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🎯  The Grand Vision: Democratizing Product Safety &amp; Consumer Justice in India</a:t>
            </a:r>
          </a:p>
          <a:p>
            <a:pPr algn="ctr">
              <a:defRPr sz="1200">
                <a:solidFill>
                  <a:srgbClr val="D1FAE5"/>
                </a:solidFill>
              </a:defRPr>
            </a:pPr>
            <a:r>
              <a:t>Today, corporations bury single complaints. ConsumerShield transforms individual consumer frustration into collective, legally admissible evidence — automating regulatory enforcement under the Consumer Protection Act and FSSAI guidelines to hold food &amp; product manufacturers accountable.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